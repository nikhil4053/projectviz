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23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62449">
              <a:alpha val="80000"/>
            </a:srgbClr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47472" y="548640"/>
            <a:ext cx="73152" cy="3840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0" y="0"/>
            <a:ext cx="2743200" cy="6858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46520" y="45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62449"/>
                </a:solidFill>
              </a:rPr>
              <a:t>VASTU HOUSING FINANCE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292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FFFFFF"/>
                </a:solidFill>
              </a:rPr>
              <a:t>AI-POWERED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0" dirty="0">
                <a:solidFill>
                  <a:srgbClr val="00B4D8"/>
                </a:solidFill>
              </a:rPr>
              <a:t>ANALYTICS AGENT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502920" y="2450592"/>
            <a:ext cx="20116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2606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8E6F5"/>
                </a:solidFill>
              </a:rPr>
              <a:t>From Questions to Insights in Seconds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3154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C8E0"/>
                </a:solidFill>
              </a:rPr>
              <a:t>AI-Powered Analytics Platform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8C8E0"/>
                </a:solidFill>
              </a:rPr>
              <a:t>Vastu Housing Finance Corporation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Current reporting creates critical bottlenecks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265176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26517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234440" y="1554480"/>
            <a:ext cx="914400" cy="914400"/>
          </a:xfrm>
          <a:prstGeom prst="ellipse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344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49"/>
                </a:solidFill>
              </a:rPr>
              <a:t>Time Delays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Reports take hours to generate, leaving teams waiting for critical data.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325880"/>
            <a:ext cx="265176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325880"/>
            <a:ext cx="265176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69080" y="1554480"/>
            <a:ext cx="914400" cy="914400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690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49"/>
                </a:solidFill>
              </a:rPr>
              <a:t>Technical Barriers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0358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SQL queries and dashboard skills required — limiting access to analysts only.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325880"/>
            <a:ext cx="2651760" cy="30175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1325880"/>
            <a:ext cx="265176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03720" y="1554480"/>
            <a:ext cx="914400" cy="914400"/>
          </a:xfrm>
          <a:prstGeom prst="ellipse">
            <a:avLst/>
          </a:prstGeom>
          <a:solidFill>
            <a:srgbClr val="8E44AD">
              <a:alpha val="15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1264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449"/>
                </a:solidFill>
              </a:rPr>
              <a:t>Delayed Decisions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72200" y="30358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Manual analysis slows response time and impacts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Our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Ask in Plain English.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Get Instant Answers.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D4E8"/>
                </a:solidFill>
              </a:rPr>
              <a:t>We envision a world where anyone — from a branch manager to a senior executive — can interact with data using natural language, getting instant, accurate insights without writing a single line of SQL.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54864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B4D8"/>
                </a:solidFill>
              </a:rPr>
              <a:t>No technical skills needed — just ask.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062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40680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Ask in Plain English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15544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Natural language queries replace complex SQL and Reports.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788920"/>
            <a:ext cx="42062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64008" cy="1600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40680" y="2990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Get Instant Answers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383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AI analyzes, visualizes, and delivers insights automatically in seconds.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1051560"/>
            <a:ext cx="1508760" cy="3337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0100" y="11887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01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920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Ask Question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F5"/>
                </a:solidFill>
              </a:rPr>
              <a:t>Plain English query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47088" y="21945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39112" y="1051560"/>
            <a:ext cx="1508760" cy="33375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9172" y="11887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917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21992" y="1920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84832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AI Interprets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F5"/>
                </a:solidFill>
              </a:rPr>
              <a:t>Understands intent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21945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58184" y="1051560"/>
            <a:ext cx="1508760" cy="3337560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38244" y="11887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3824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41064" y="1920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803904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Clarify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03904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F5"/>
                </a:solidFill>
              </a:rPr>
              <a:t>Follow-up questions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85232" y="21945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77256" y="1051560"/>
            <a:ext cx="1508760" cy="3337560"/>
          </a:xfrm>
          <a:prstGeom prst="rect">
            <a:avLst/>
          </a:prstGeom>
          <a:solidFill>
            <a:srgbClr val="005E70"/>
          </a:solidFill>
          <a:ln w="12700">
            <a:solidFill>
              <a:srgbClr val="005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57316" y="11887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5731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0136" y="1920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5522976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Fetch Data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22976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F5"/>
                </a:solidFill>
              </a:rPr>
              <a:t>Auto-generate SQL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04304" y="219456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96328" y="1051560"/>
            <a:ext cx="1508760" cy="3337560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76388" y="1188720"/>
            <a:ext cx="548640" cy="54864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7638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79208" y="19202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242048" y="2743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42048" y="3200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8F5"/>
                </a:solidFill>
              </a:rPr>
              <a:t>Chart + insights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Business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1572768" cy="3383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0624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Minutes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0624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8F5"/>
                </a:solidFill>
              </a:rPr>
              <a:t>Not Hours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685800" y="2907792"/>
            <a:ext cx="914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3017520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5"/>
                </a:solidFill>
              </a:rPr>
              <a:t>Real-time insights drive faster, better decisions across all teams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75688" y="1051560"/>
            <a:ext cx="1572768" cy="338328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76272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30552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Zero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30552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8F5"/>
                </a:solidFill>
              </a:rPr>
              <a:t>Analyst Dependency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2395728" y="2907792"/>
            <a:ext cx="914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48840" y="3017520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5"/>
                </a:solidFill>
              </a:rPr>
              <a:t>Everyone accesses data independently without bottlenecks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785616" y="1051560"/>
            <a:ext cx="1572768" cy="3383280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8620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8404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40%+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8F5"/>
                </a:solidFill>
              </a:rPr>
              <a:t>Productivity Boost</a:t>
            </a:r>
            <a:endParaRPr lang="en-US" sz="1200" b="1" dirty="0"/>
          </a:p>
        </p:txBody>
      </p:sp>
      <p:sp>
        <p:nvSpPr>
          <p:cNvPr id="27" name="Shape 25"/>
          <p:cNvSpPr/>
          <p:nvPr/>
        </p:nvSpPr>
        <p:spPr>
          <a:xfrm>
            <a:off x="4105656" y="2907792"/>
            <a:ext cx="914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58768" y="3017520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5"/>
                </a:solidFill>
              </a:rPr>
              <a:t>Eliminate manual reporting work and repetitive query tasks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95544" y="1051560"/>
            <a:ext cx="1572768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96128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50408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100%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50408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8F5"/>
                </a:solidFill>
              </a:rPr>
              <a:t>Consistent Reporting</a:t>
            </a:r>
            <a:endParaRPr lang="en-US" sz="1200" b="1" dirty="0"/>
          </a:p>
        </p:txBody>
      </p:sp>
      <p:sp>
        <p:nvSpPr>
          <p:cNvPr id="33" name="Shape 31"/>
          <p:cNvSpPr/>
          <p:nvPr/>
        </p:nvSpPr>
        <p:spPr>
          <a:xfrm>
            <a:off x="5815584" y="2907792"/>
            <a:ext cx="914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68696" y="3017520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5"/>
                </a:solidFill>
              </a:rPr>
              <a:t>Standardized, auditable analysis across all teams and branches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205472" y="1051560"/>
            <a:ext cx="1572768" cy="3383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06056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260336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260336" y="24505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E8F5"/>
                </a:solidFill>
              </a:rPr>
              <a:t>Better Strategies</a:t>
            </a:r>
            <a:endParaRPr lang="en-US" sz="1200" b="1" dirty="0"/>
          </a:p>
        </p:txBody>
      </p:sp>
      <p:sp>
        <p:nvSpPr>
          <p:cNvPr id="39" name="Shape 37"/>
          <p:cNvSpPr/>
          <p:nvPr/>
        </p:nvSpPr>
        <p:spPr>
          <a:xfrm>
            <a:off x="7525512" y="2907792"/>
            <a:ext cx="91440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278624" y="3017520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5"/>
                </a:solidFill>
              </a:rPr>
              <a:t>Data-driven approaches replace intuition-based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4748B"/>
                </a:solidFill>
              </a:rPr>
              <a:t>Runs fully on-premise — no external data sharing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40233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64008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1618488"/>
            <a:ext cx="777240" cy="77724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16184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1600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Streamlit 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19842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User interface layer with intuitive query input and interactive dashboards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64008" cy="1508760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8032" y="1618488"/>
            <a:ext cx="777240" cy="777240"/>
          </a:xfrm>
          <a:prstGeom prst="ellipse">
            <a:avLst/>
          </a:prstGeom>
          <a:solidFill>
            <a:srgbClr val="162449">
              <a:alpha val="15000"/>
            </a:srgbClr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16184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16002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Qwen AI Models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198424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Large language models for natural language understanding and SQL generation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40233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64008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0352" y="3310128"/>
            <a:ext cx="777240" cy="777240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3310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17320" y="3675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Robust relational database for secure, structured loan data storage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3017520"/>
            <a:ext cx="64008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28032" y="3310128"/>
            <a:ext cx="777240" cy="777240"/>
          </a:xfrm>
          <a:prstGeom prst="ellipse">
            <a:avLst/>
          </a:prstGeom>
          <a:solidFill>
            <a:srgbClr val="8E44AD">
              <a:alpha val="15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331012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715000" y="3291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Plotly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15000" y="36758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Interactive, publication-quality data visualizations and charting engine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06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05156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051560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1234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Natural Language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16184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Ask questions like you'd ask a colleague — no SQL needed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5156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606040" cy="640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23360" y="1234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Smart Follow-Up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23360" y="16184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AI asks clarifying questions to refine results precisely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35040" y="105156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606040" cy="64008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58000" y="12344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Auto SQL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0" y="16184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Generates optimized database queries automatically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8872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Smart Charts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8872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Automatic chart type selection based on data context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283464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606040" cy="640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02336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AI Insights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02336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Interprets patterns, trends, and anomalies intelligently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2834640"/>
            <a:ext cx="2606040" cy="160020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35040" y="2834640"/>
            <a:ext cx="26060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5800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2449"/>
                </a:solidFill>
              </a:rPr>
              <a:t>Interactive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85800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Real-time dashboard exploration and drill-downs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Example Use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07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User Query:  "Show bounce rate by branch"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4023360" cy="269748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🤖  AI Interaction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Asks for region filter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8803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60120" y="28803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Requests month range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347472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474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0120" y="3474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Confirms data scope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4023360" cy="269748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40233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449"/>
                </a:solidFill>
              </a:rPr>
              <a:t>📊  Output Generated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23042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22860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Branch comparison chart created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28986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28803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Top performers highlighted in green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4930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34747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3E50"/>
                </a:solidFill>
              </a:rPr>
              <a:t>High-risk areas flagged in red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Deployment Options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08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Choosing the right deployment model is crucial for optimising performance, cost, and data privacy.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713716"/>
              </p:ext>
            </p:extLst>
          </p:nvPr>
        </p:nvGraphicFramePr>
        <p:xfrm>
          <a:off x="365760" y="1234440"/>
          <a:ext cx="8412480" cy="3383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API (Mini)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Cloud GPU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Local Server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Setup Cost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₹0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₹0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₹3.5L – ₹4.5L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Monthly Cost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₹8K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₹18K – ₹57K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₹1K – ₹4K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Cost / Request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₹0.28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₹0.6 – ₹2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₹0.55 – ₹0.8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Scalability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Easy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Easy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Maintenance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None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Low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Accuracy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High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High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62449"/>
                          </a:solidFill>
                        </a:rPr>
                        <a:t>Data Privacy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Medium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4748B"/>
                          </a:solidFill>
                        </a:rPr>
                        <a:t>High</a:t>
                      </a:r>
                      <a:endParaRPr lang="en-US" sz="1400" b="1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449"/>
                </a:solidFill>
              </a:rPr>
              <a:t>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Page No :  09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</a:rPr>
              <a:t>Towards AI-Driven Decision Making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2020824"/>
            <a:ext cx="7498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1837944"/>
            <a:ext cx="402336" cy="402336"/>
          </a:xfrm>
          <a:prstGeom prst="ellipse">
            <a:avLst/>
          </a:prstGeom>
          <a:solidFill>
            <a:srgbClr val="00B4D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" y="2331720"/>
            <a:ext cx="19659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" y="233172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24323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49"/>
                </a:solidFill>
              </a:rPr>
              <a:t>Multi Visual Dashboards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Build composite dashboards displaying multiple charts from a single query session with drag-and-drop layout.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62072" y="1837944"/>
            <a:ext cx="402336" cy="402336"/>
          </a:xfrm>
          <a:prstGeom prst="ellipse">
            <a:avLst/>
          </a:prstGeom>
          <a:solidFill>
            <a:srgbClr val="0096B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6207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478024" y="2331720"/>
            <a:ext cx="19659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78024" y="2331720"/>
            <a:ext cx="1965960" cy="6400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42032" y="24323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49"/>
                </a:solidFill>
              </a:rPr>
              <a:t>Multi-Table Queries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42032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Enable complex JOINs across borrower, repayment, and branch tables for holistic portfolio analysis.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10912" y="1837944"/>
            <a:ext cx="402336" cy="402336"/>
          </a:xfrm>
          <a:prstGeom prst="ellipse">
            <a:avLst/>
          </a:prstGeom>
          <a:solidFill>
            <a:srgbClr val="005E7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1091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26864" y="2331720"/>
            <a:ext cx="19659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26864" y="2331720"/>
            <a:ext cx="1965960" cy="64008"/>
          </a:xfrm>
          <a:prstGeom prst="rect">
            <a:avLst/>
          </a:prstGeom>
          <a:solidFill>
            <a:srgbClr val="005E70"/>
          </a:solidFill>
          <a:ln w="12700">
            <a:solidFill>
              <a:srgbClr val="005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90872" y="24323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49"/>
                </a:solidFill>
              </a:rPr>
              <a:t>Real-Time Data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90872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Stream live collection data into the analytics engine for instant alerts on defaults and high-risk accounts.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59752" y="1837944"/>
            <a:ext cx="402336" cy="402336"/>
          </a:xfrm>
          <a:prstGeom prst="ellipse">
            <a:avLst/>
          </a:prstGeom>
          <a:solidFill>
            <a:srgbClr val="16244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59752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🏢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75704" y="2331720"/>
            <a:ext cx="1965960" cy="15087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75704" y="2331720"/>
            <a:ext cx="1965960" cy="64008"/>
          </a:xfrm>
          <a:prstGeom prst="rect">
            <a:avLst/>
          </a:prstGeom>
          <a:solidFill>
            <a:srgbClr val="162449"/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39712" y="24323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2449"/>
                </a:solidFill>
              </a:rPr>
              <a:t>Enterprise Scale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39712" y="2880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</a:rPr>
              <a:t>Role-based access control, audit logs, multi-tenancy, and SSO integration for enterprise deployment.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449">
              <a:alpha val="65000"/>
            </a:srgbClr>
          </a:solidFill>
          <a:ln w="12700">
            <a:solidFill>
              <a:srgbClr val="162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200400" y="2240280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423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E6F5"/>
                </a:solidFill>
              </a:rPr>
              <a:t>AI-Powered Analytics Agent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8E6F5"/>
                </a:solidFill>
              </a:rPr>
              <a:t>Vastu Housing Finance Corporation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From Questions to Insights in Seconds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0" y="4846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⊕  www.vastuhfc.com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724</Words>
  <Application>Microsoft Office PowerPoint</Application>
  <PresentationFormat>On-screen Show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Analytics Agent</dc:title>
  <dc:subject>PptxGenJS Presentation</dc:subject>
  <dc:creator>PptxGenJS</dc:creator>
  <cp:lastModifiedBy>Official Vastu 30</cp:lastModifiedBy>
  <cp:revision>2</cp:revision>
  <dcterms:created xsi:type="dcterms:W3CDTF">2026-04-28T07:26:47Z</dcterms:created>
  <dcterms:modified xsi:type="dcterms:W3CDTF">2026-04-28T07:38:48Z</dcterms:modified>
</cp:coreProperties>
</file>