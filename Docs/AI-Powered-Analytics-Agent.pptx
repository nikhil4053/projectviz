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7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5442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AI-Powered Analytics Agent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Questions to Insights in Seconds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75699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180594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loan collection reporting creates bottlenecks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2423993"/>
            <a:ext cx="3664744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28224" y="265842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5390" y="2845475"/>
            <a:ext cx="306110" cy="30611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8224" y="3565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 Delays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028224" y="4056102"/>
            <a:ext cx="31958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Hours to generate reports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4685348" y="2423993"/>
            <a:ext cx="3664863" cy="2592348"/>
          </a:xfrm>
          <a:prstGeom prst="roundRect">
            <a:avLst>
              <a:gd name="adj" fmla="val 367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919782" y="265842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6948" y="2845475"/>
            <a:ext cx="306110" cy="30611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919782" y="35656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Barriers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4919782" y="4056102"/>
            <a:ext cx="319599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and dashboard skills required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93790" y="5243155"/>
            <a:ext cx="7556421" cy="2229445"/>
          </a:xfrm>
          <a:prstGeom prst="roundRect">
            <a:avLst>
              <a:gd name="adj" fmla="val 4273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028224" y="547758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4950B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15390" y="5664637"/>
            <a:ext cx="306110" cy="30611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28224" y="63848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Delayed Decisions</a:t>
            </a:r>
            <a:endParaRPr lang="en-US" sz="2200" dirty="0"/>
          </a:p>
        </p:txBody>
      </p:sp>
      <p:sp>
        <p:nvSpPr>
          <p:cNvPr id="19" name="Text 13"/>
          <p:cNvSpPr/>
          <p:nvPr/>
        </p:nvSpPr>
        <p:spPr>
          <a:xfrm>
            <a:off x="1028224" y="6875264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analysis slows response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5467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Vision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3203615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14624" y="34380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Ask in Plain English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14624" y="392846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technical skills needed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80190" y="4752618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14624" y="498705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 Instant Answers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514624" y="5477470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analyzes and visualizes automatically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589121"/>
            <a:ext cx="5050393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It Works</a:t>
            </a:r>
            <a:endParaRPr lang="en-US" sz="3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993" y="1580198"/>
            <a:ext cx="1010007" cy="12120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96904" y="1782128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Ask Question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896904" y="2205633"/>
            <a:ext cx="1202650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English query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993" y="2792254"/>
            <a:ext cx="1010007" cy="12120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96904" y="2994184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Interprets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896904" y="3417689"/>
            <a:ext cx="1202650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Understands intent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993" y="4004310"/>
            <a:ext cx="1010007" cy="12120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896904" y="4206240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Clarify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896904" y="4629745"/>
            <a:ext cx="1202650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 questions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993" y="5216366"/>
            <a:ext cx="1010007" cy="121205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96904" y="5418296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Fetch Data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896904" y="5841802"/>
            <a:ext cx="1202650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 SQL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993" y="6428423"/>
            <a:ext cx="1010007" cy="121205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896904" y="6630353"/>
            <a:ext cx="2525197" cy="315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Visualize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896904" y="7053858"/>
            <a:ext cx="1202650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 + insights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611" y="619601"/>
            <a:ext cx="498002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System Architecture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94611" y="1500068"/>
            <a:ext cx="7754779" cy="1154430"/>
          </a:xfrm>
          <a:prstGeom prst="roundRect">
            <a:avLst>
              <a:gd name="adj" fmla="val 722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5829" y="172128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Streamlit UI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15829" y="2135624"/>
            <a:ext cx="731234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interface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694611" y="2828092"/>
            <a:ext cx="7754779" cy="1154430"/>
          </a:xfrm>
          <a:prstGeom prst="roundRect">
            <a:avLst>
              <a:gd name="adj" fmla="val 722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5829" y="30493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Qwen AI Models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15829" y="3463647"/>
            <a:ext cx="731234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understanding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694611" y="4156115"/>
            <a:ext cx="7754779" cy="1154430"/>
          </a:xfrm>
          <a:prstGeom prst="roundRect">
            <a:avLst>
              <a:gd name="adj" fmla="val 722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5829" y="43773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PostgreSQL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15829" y="4791670"/>
            <a:ext cx="731234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storage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94611" y="5484138"/>
            <a:ext cx="7754779" cy="1154430"/>
          </a:xfrm>
          <a:prstGeom prst="roundRect">
            <a:avLst>
              <a:gd name="adj" fmla="val 7221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5829" y="57053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Plotly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15829" y="6119693"/>
            <a:ext cx="731234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Visualizations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694611" y="6833830"/>
            <a:ext cx="7754779" cy="776168"/>
          </a:xfrm>
          <a:prstGeom prst="roundRect">
            <a:avLst>
              <a:gd name="adj" fmla="val 10740"/>
            </a:avLst>
          </a:prstGeom>
          <a:solidFill>
            <a:srgbClr val="B6D6FC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969" y="7129105"/>
            <a:ext cx="248007" cy="19835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339334" y="7056953"/>
            <a:ext cx="6911697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fully on-premise—no external data sharing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998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Features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962394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4253" y="29623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Natural Language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644253" y="3452813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questions like you'd ask a colleague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962394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07348" y="296239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Follow-Up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307348" y="3452813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asks clarifying questions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26934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44253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 SQL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644253" y="4759762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Generates queries automatically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269343"/>
            <a:ext cx="566976" cy="56697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07348" y="426934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Charts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307348" y="4759762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 visualization selection</a:t>
            </a:r>
            <a:endParaRPr lang="en-US" sz="17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576292"/>
            <a:ext cx="566976" cy="56697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644253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Insights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1644253" y="6066711"/>
            <a:ext cx="552914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Interprets patterns and trends</a:t>
            </a:r>
            <a:endParaRPr lang="en-US" sz="17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56884" y="5576292"/>
            <a:ext cx="566976" cy="56697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307348" y="55762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</a:t>
            </a:r>
            <a:endParaRPr lang="en-US" sz="2200" dirty="0"/>
          </a:p>
        </p:txBody>
      </p:sp>
      <p:sp>
        <p:nvSpPr>
          <p:cNvPr id="20" name="Text 12"/>
          <p:cNvSpPr/>
          <p:nvPr/>
        </p:nvSpPr>
        <p:spPr>
          <a:xfrm>
            <a:off x="8307348" y="6066711"/>
            <a:ext cx="552926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dashboard exploration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654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Business Impact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07895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8224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Minutes, Not Hours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28224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insights drive faster decisions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5216962" y="307895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51396" y="3313390"/>
            <a:ext cx="334268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Analyst Dependency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51396" y="3803809"/>
            <a:ext cx="372749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accesses data independently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9640133" y="3078956"/>
            <a:ext cx="4196358" cy="1685092"/>
          </a:xfrm>
          <a:prstGeom prst="roundRect">
            <a:avLst>
              <a:gd name="adj" fmla="val 5654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4568" y="331339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Productivity Boost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74568" y="3803809"/>
            <a:ext cx="37274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Eliminate manual reporting work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4990862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8224" y="5225296"/>
            <a:ext cx="29320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Consistent Reporting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8224" y="5715714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Standardized analysis across teams</a:t>
            </a:r>
            <a:endParaRPr lang="en-US" sz="1750" dirty="0"/>
          </a:p>
        </p:txBody>
      </p:sp>
      <p:sp>
        <p:nvSpPr>
          <p:cNvPr id="15" name="Shape 13"/>
          <p:cNvSpPr/>
          <p:nvPr/>
        </p:nvSpPr>
        <p:spPr>
          <a:xfrm>
            <a:off x="7428548" y="4990862"/>
            <a:ext cx="6407944" cy="1322189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62982" y="522529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Better Strategies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662982" y="5715714"/>
            <a:ext cx="5939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Data-driven approaches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37469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 Use Case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423636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"Show bounce rate by branch"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6280190" y="4947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Interaction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280190" y="5528191"/>
            <a:ext cx="35015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Asks for region filter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Requests month range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Confirms data scope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10342721" y="494704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Output Generated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342721" y="5528191"/>
            <a:ext cx="3501509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comparison chart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performers highlighted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High-risk areas flagged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6993" y="640794"/>
            <a:ext cx="8173045" cy="631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50"/>
              </a:lnSpc>
              <a:buNone/>
            </a:pPr>
            <a:r>
              <a:rPr lang="en-US" sz="3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Deployment Options Comparison</a:t>
            </a:r>
            <a:endParaRPr lang="en-US" sz="3950" dirty="0"/>
          </a:p>
        </p:txBody>
      </p:sp>
      <p:sp>
        <p:nvSpPr>
          <p:cNvPr id="3" name="Text 1"/>
          <p:cNvSpPr/>
          <p:nvPr/>
        </p:nvSpPr>
        <p:spPr>
          <a:xfrm>
            <a:off x="706993" y="1631871"/>
            <a:ext cx="132164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Choosing the right deployment model is crucial for optimising performance, cost, and data privacy for your AI-powered analytics agent. This table outlines the key considerations across three common options: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06993" y="2445306"/>
            <a:ext cx="13216414" cy="4330065"/>
          </a:xfrm>
          <a:prstGeom prst="roundRect">
            <a:avLst>
              <a:gd name="adj" fmla="val 1960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4613" y="2452926"/>
            <a:ext cx="13201174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6543" y="2568416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4220647" y="2568416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(Mini)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20940" y="2568416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GPU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0821233" y="2568416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Server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14613" y="2989421"/>
            <a:ext cx="13201174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16543" y="3104912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 Cost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220647" y="3104912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₹0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20940" y="3104912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₹0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10821233" y="3104912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₹3.5L – ₹4.5L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14613" y="3525917"/>
            <a:ext cx="13201174" cy="53649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6543" y="3641407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Cost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4220647" y="3641407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₹8K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520940" y="3641407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₹18K – ₹57K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10821233" y="3641407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₹1K – ₹4K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14613" y="4062413"/>
            <a:ext cx="13201174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16543" y="4177903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/ Request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220647" y="4177903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₹0.28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20940" y="4177903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₹0.6 – ₹2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0821233" y="4177903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₹0.55 – ₹0.8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714613" y="4598908"/>
            <a:ext cx="13201174" cy="5441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916543" y="4714399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Scalability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220647" y="4714399"/>
            <a:ext cx="2888813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520940" y="4714399"/>
            <a:ext cx="2888813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0821233" y="4714399"/>
            <a:ext cx="2892623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1550" dirty="0"/>
          </a:p>
        </p:txBody>
      </p:sp>
      <p:sp>
        <p:nvSpPr>
          <p:cNvPr id="30" name="Shape 28"/>
          <p:cNvSpPr/>
          <p:nvPr/>
        </p:nvSpPr>
        <p:spPr>
          <a:xfrm>
            <a:off x="714613" y="5143024"/>
            <a:ext cx="13201174" cy="53649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916543" y="5258514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4220647" y="5258514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7520940" y="5258514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10821233" y="5258514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550" dirty="0"/>
          </a:p>
        </p:txBody>
      </p:sp>
      <p:sp>
        <p:nvSpPr>
          <p:cNvPr id="35" name="Shape 33"/>
          <p:cNvSpPr/>
          <p:nvPr/>
        </p:nvSpPr>
        <p:spPr>
          <a:xfrm>
            <a:off x="714613" y="5679519"/>
            <a:ext cx="13201174" cy="54411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16543" y="5795010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Accuracy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4220647" y="5795010"/>
            <a:ext cx="2888813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7520940" y="5795010"/>
            <a:ext cx="2888813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10821233" y="5795010"/>
            <a:ext cx="2892623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1550" dirty="0"/>
          </a:p>
        </p:txBody>
      </p:sp>
      <p:sp>
        <p:nvSpPr>
          <p:cNvPr id="40" name="Shape 38"/>
          <p:cNvSpPr/>
          <p:nvPr/>
        </p:nvSpPr>
        <p:spPr>
          <a:xfrm>
            <a:off x="714613" y="6223635"/>
            <a:ext cx="13201174" cy="54411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916543" y="6339126"/>
            <a:ext cx="289262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Privacy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4220647" y="6339126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7520940" y="6339126"/>
            <a:ext cx="2888813" cy="305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Medium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10821233" y="6339126"/>
            <a:ext cx="2892623" cy="313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⭐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706993" y="6977777"/>
            <a:ext cx="13216414" cy="611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While API and Cloud GPU options offer lower initial costs and higher scalability, a local server provides superior data privacy and predictable costs, making it ideal for sensitive financial data.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351" y="581858"/>
            <a:ext cx="4784646" cy="598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Roadmap</a:t>
            </a:r>
            <a:endParaRPr lang="en-US" sz="3750" dirty="0"/>
          </a:p>
        </p:txBody>
      </p:sp>
      <p:sp>
        <p:nvSpPr>
          <p:cNvPr id="3" name="Shape 1"/>
          <p:cNvSpPr/>
          <p:nvPr/>
        </p:nvSpPr>
        <p:spPr>
          <a:xfrm>
            <a:off x="903684" y="1789867"/>
            <a:ext cx="191333" cy="861060"/>
          </a:xfrm>
          <a:prstGeom prst="roundRect">
            <a:avLst>
              <a:gd name="adj" fmla="val 4201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2351" y="1664256"/>
            <a:ext cx="574119" cy="574119"/>
          </a:xfrm>
          <a:prstGeom prst="roundRect">
            <a:avLst>
              <a:gd name="adj" fmla="val 7963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5821" y="1807845"/>
            <a:ext cx="287060" cy="2870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7919" y="1694140"/>
            <a:ext cx="284392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 Visual Dashboards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190744" y="3099554"/>
            <a:ext cx="191333" cy="861060"/>
          </a:xfrm>
          <a:prstGeom prst="roundRect">
            <a:avLst>
              <a:gd name="adj" fmla="val 4201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99411" y="2973943"/>
            <a:ext cx="574119" cy="574119"/>
          </a:xfrm>
          <a:prstGeom prst="roundRect">
            <a:avLst>
              <a:gd name="adj" fmla="val 7963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881" y="3117533"/>
            <a:ext cx="287060" cy="2870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34979" y="3003828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Multi-Table Queries</a:t>
            </a:r>
            <a:endParaRPr lang="en-US" sz="1850" dirty="0"/>
          </a:p>
        </p:txBody>
      </p:sp>
      <p:sp>
        <p:nvSpPr>
          <p:cNvPr id="11" name="Shape 7"/>
          <p:cNvSpPr/>
          <p:nvPr/>
        </p:nvSpPr>
        <p:spPr>
          <a:xfrm>
            <a:off x="1477804" y="4409242"/>
            <a:ext cx="191333" cy="861060"/>
          </a:xfrm>
          <a:prstGeom prst="roundRect">
            <a:avLst>
              <a:gd name="adj" fmla="val 4201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1286470" y="4283631"/>
            <a:ext cx="574119" cy="574119"/>
          </a:xfrm>
          <a:prstGeom prst="roundRect">
            <a:avLst>
              <a:gd name="adj" fmla="val 7963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29941" y="4427220"/>
            <a:ext cx="287060" cy="2870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022038" y="4313515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Data</a:t>
            </a:r>
            <a:endParaRPr lang="en-US" sz="1850" dirty="0"/>
          </a:p>
        </p:txBody>
      </p:sp>
      <p:sp>
        <p:nvSpPr>
          <p:cNvPr id="15" name="Shape 10"/>
          <p:cNvSpPr/>
          <p:nvPr/>
        </p:nvSpPr>
        <p:spPr>
          <a:xfrm>
            <a:off x="1764863" y="5718929"/>
            <a:ext cx="191333" cy="861060"/>
          </a:xfrm>
          <a:prstGeom prst="roundRect">
            <a:avLst>
              <a:gd name="adj" fmla="val 4201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573530" y="5593318"/>
            <a:ext cx="574119" cy="574119"/>
          </a:xfrm>
          <a:prstGeom prst="roundRect">
            <a:avLst>
              <a:gd name="adj" fmla="val 7963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17000" y="5736908"/>
            <a:ext cx="287060" cy="2870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309098" y="5623203"/>
            <a:ext cx="2392323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Enterprise Scale</a:t>
            </a:r>
            <a:endParaRPr lang="en-US" sz="1850" dirty="0"/>
          </a:p>
        </p:txBody>
      </p:sp>
      <p:sp>
        <p:nvSpPr>
          <p:cNvPr id="19" name="Text 13"/>
          <p:cNvSpPr/>
          <p:nvPr/>
        </p:nvSpPr>
        <p:spPr>
          <a:xfrm>
            <a:off x="712351" y="6822281"/>
            <a:ext cx="11528703" cy="8253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450"/>
              </a:lnSpc>
              <a:buNone/>
            </a:pPr>
            <a:r>
              <a:rPr lang="en-US" sz="5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Towards AI-Driven Decision Making</a:t>
            </a:r>
            <a:endParaRPr lang="en-US" sz="5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2026-04-28T07:17:59Z</dcterms:created>
  <dcterms:modified xsi:type="dcterms:W3CDTF">2026-04-28T07:17:59Z</dcterms:modified>
</cp:coreProperties>
</file>